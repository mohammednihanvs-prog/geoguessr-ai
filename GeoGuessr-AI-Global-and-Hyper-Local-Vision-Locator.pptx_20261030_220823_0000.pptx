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oboto Mono Medium" charset="1" panose="00000000000000000000"/>
      <p:regular r:id="rId18"/>
    </p:embeddedFont>
    <p:embeddedFont>
      <p:font typeface="Arimo" charset="1" panose="020B0604020202020204"/>
      <p:regular r:id="rId19"/>
    </p:embeddedFont>
    <p:embeddedFont>
      <p:font typeface="Roboto Mono Bold" charset="1" panose="00000000000000000000"/>
      <p:regular r:id="rId24"/>
    </p:embeddedFont>
    <p:embeddedFont>
      <p:font typeface="Arimo Bold" charset="1" panose="020B07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6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jpe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22745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66771" y="1785337"/>
            <a:ext cx="17220771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VISION LOCATOR · TECHNICAL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771" y="2557310"/>
            <a:ext cx="16534990" cy="395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56"/>
              </a:lnSpc>
            </a:pPr>
            <a:r>
              <a:rPr lang="en-US" sz="10800" spc="-2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GeoGuessr AI:</a:t>
            </a:r>
          </a:p>
          <a:p>
            <a:pPr algn="l">
              <a:lnSpc>
                <a:spcPts val="10756"/>
              </a:lnSpc>
            </a:pPr>
            <a:r>
              <a:rPr lang="en-US" sz="10800" spc="-2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Global &amp; Hyper-Local</a:t>
            </a:r>
          </a:p>
          <a:p>
            <a:pPr algn="l">
              <a:lnSpc>
                <a:spcPts val="10756"/>
              </a:lnSpc>
            </a:pPr>
            <a:r>
              <a:rPr lang="en-US" sz="10800" spc="-2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Vision Locator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66771" y="6827491"/>
            <a:ext cx="4133602" cy="76048"/>
            <a:chOff x="0" y="0"/>
            <a:chExt cx="5511470" cy="1013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11419" cy="101346"/>
            </a:xfrm>
            <a:custGeom>
              <a:avLst/>
              <a:gdLst/>
              <a:ahLst/>
              <a:cxnLst/>
              <a:rect r="r" b="b" t="t" l="l"/>
              <a:pathLst>
                <a:path h="101346" w="5511419">
                  <a:moveTo>
                    <a:pt x="0" y="50673"/>
                  </a:moveTo>
                  <a:cubicBezTo>
                    <a:pt x="0" y="22733"/>
                    <a:pt x="22733" y="0"/>
                    <a:pt x="50673" y="0"/>
                  </a:cubicBezTo>
                  <a:lnTo>
                    <a:pt x="5460746" y="0"/>
                  </a:lnTo>
                  <a:cubicBezTo>
                    <a:pt x="5488686" y="0"/>
                    <a:pt x="5511419" y="22733"/>
                    <a:pt x="5511419" y="50673"/>
                  </a:cubicBezTo>
                  <a:cubicBezTo>
                    <a:pt x="5511419" y="78613"/>
                    <a:pt x="5488686" y="101346"/>
                    <a:pt x="5460746" y="101346"/>
                  </a:cubicBezTo>
                  <a:lnTo>
                    <a:pt x="50673" y="101346"/>
                  </a:lnTo>
                  <a:cubicBezTo>
                    <a:pt x="22733" y="101346"/>
                    <a:pt x="0" y="78740"/>
                    <a:pt x="0" y="50673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66771" y="7465666"/>
            <a:ext cx="1653499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Predict geographic origins from ordinary street-view imagery using StreetCLIP, residual vision adapters, and multi-scale test-time augmentation.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5781" y="790794"/>
            <a:ext cx="16915981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7"/>
              </a:lnSpc>
            </a:pPr>
            <a:r>
              <a:rPr lang="en-US" sz="54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From human clues to a local-first AI locator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781" y="1674914"/>
            <a:ext cx="81151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Challenge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781" y="2359285"/>
            <a:ext cx="8115100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Infer location from photos without famous landmarks.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86662" y="1701108"/>
            <a:ext cx="685781" cy="685800"/>
            <a:chOff x="0" y="0"/>
            <a:chExt cx="914375" cy="9144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86662" y="2532164"/>
            <a:ext cx="81151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Human intuition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86662" y="3216535"/>
            <a:ext cx="8115100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Driving side, road markings, soil pigmentation, foliage, and architecture.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5781" y="5994054"/>
            <a:ext cx="685781" cy="685800"/>
            <a:chOff x="0" y="0"/>
            <a:chExt cx="914375" cy="9144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1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85781" y="6825110"/>
            <a:ext cx="81151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Coverage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5781" y="7509481"/>
            <a:ext cx="8115100" cy="144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475+ canonical locations across 104 countries, all 28 Indian States and 8 UTs, plus 100+ rural Kerala micro-regions.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86662" y="5994054"/>
            <a:ext cx="685781" cy="685800"/>
            <a:chOff x="0" y="0"/>
            <a:chExt cx="914375" cy="9144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1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486662" y="6825110"/>
            <a:ext cx="81151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Local by design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86662" y="7509481"/>
            <a:ext cx="8115100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Offline inference, local EXIF parsing, and vector matching with no API dependency.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34246" y="1701108"/>
            <a:ext cx="19050" cy="3950046"/>
            <a:chOff x="0" y="0"/>
            <a:chExt cx="25400" cy="52667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400" cy="5266690"/>
            </a:xfrm>
            <a:custGeom>
              <a:avLst/>
              <a:gdLst/>
              <a:ahLst/>
              <a:cxnLst/>
              <a:rect r="r" b="b" t="t" l="l"/>
              <a:pathLst>
                <a:path h="5266690" w="25400">
                  <a:moveTo>
                    <a:pt x="0" y="0"/>
                  </a:moveTo>
                  <a:lnTo>
                    <a:pt x="25400" y="0"/>
                  </a:lnTo>
                  <a:lnTo>
                    <a:pt x="25400" y="5266690"/>
                  </a:lnTo>
                  <a:lnTo>
                    <a:pt x="0" y="526669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85781" y="5641629"/>
            <a:ext cx="8457990" cy="19050"/>
            <a:chOff x="0" y="0"/>
            <a:chExt cx="11277321" cy="25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77346" cy="25400"/>
            </a:xfrm>
            <a:custGeom>
              <a:avLst/>
              <a:gdLst/>
              <a:ahLst/>
              <a:cxnLst/>
              <a:rect r="r" b="b" t="t" l="l"/>
              <a:pathLst>
                <a:path h="25400" w="11277346">
                  <a:moveTo>
                    <a:pt x="0" y="0"/>
                  </a:moveTo>
                  <a:lnTo>
                    <a:pt x="11277346" y="0"/>
                  </a:lnTo>
                  <a:lnTo>
                    <a:pt x="1127734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34246" y="5651154"/>
            <a:ext cx="19050" cy="3950046"/>
            <a:chOff x="0" y="0"/>
            <a:chExt cx="25400" cy="52667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400" cy="5266690"/>
            </a:xfrm>
            <a:custGeom>
              <a:avLst/>
              <a:gdLst/>
              <a:ahLst/>
              <a:cxnLst/>
              <a:rect r="r" b="b" t="t" l="l"/>
              <a:pathLst>
                <a:path h="5266690" w="25400">
                  <a:moveTo>
                    <a:pt x="0" y="0"/>
                  </a:moveTo>
                  <a:lnTo>
                    <a:pt x="25400" y="0"/>
                  </a:lnTo>
                  <a:lnTo>
                    <a:pt x="25400" y="5266690"/>
                  </a:lnTo>
                  <a:lnTo>
                    <a:pt x="0" y="526669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3771" y="5641629"/>
            <a:ext cx="8457990" cy="19050"/>
            <a:chOff x="0" y="0"/>
            <a:chExt cx="11277321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77346" cy="25400"/>
            </a:xfrm>
            <a:custGeom>
              <a:avLst/>
              <a:gdLst/>
              <a:ahLst/>
              <a:cxnLst/>
              <a:rect r="r" b="b" t="t" l="l"/>
              <a:pathLst>
                <a:path h="25400" w="11277346">
                  <a:moveTo>
                    <a:pt x="0" y="0"/>
                  </a:moveTo>
                  <a:lnTo>
                    <a:pt x="11277346" y="0"/>
                  </a:lnTo>
                  <a:lnTo>
                    <a:pt x="1127734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7690611" y="9789766"/>
            <a:ext cx="596932" cy="308524"/>
            <a:chOff x="0" y="0"/>
            <a:chExt cx="795909" cy="4113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5912" cy="411360"/>
            </a:xfrm>
            <a:custGeom>
              <a:avLst/>
              <a:gdLst/>
              <a:ahLst/>
              <a:cxnLst/>
              <a:rect r="r" b="b" t="t" l="l"/>
              <a:pathLst>
                <a:path h="411360" w="795912">
                  <a:moveTo>
                    <a:pt x="0" y="0"/>
                  </a:moveTo>
                  <a:lnTo>
                    <a:pt x="795912" y="0"/>
                  </a:lnTo>
                  <a:lnTo>
                    <a:pt x="795912" y="411360"/>
                  </a:lnTo>
                  <a:lnTo>
                    <a:pt x="0" y="411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6313" t="0" r="-16313" b="-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95909" cy="458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800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5781" y="790794"/>
            <a:ext cx="16915981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7"/>
              </a:lnSpc>
            </a:pPr>
            <a:r>
              <a:rPr lang="en-US" sz="54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End-to-end 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781" y="1767783"/>
            <a:ext cx="104504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sz="270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9345" y="1674914"/>
            <a:ext cx="493650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9345" y="2359285"/>
            <a:ext cx="4936503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Street-view image + optional local EXIF GPS.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53038" y="1767783"/>
            <a:ext cx="111588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sz="270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97439" y="1674914"/>
            <a:ext cx="463706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Perception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97439" y="2359285"/>
            <a:ext cx="4637065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Four crops expose macro context and micro-clues.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1695" y="1767783"/>
            <a:ext cx="111752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sz="270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37735" y="1674914"/>
            <a:ext cx="486402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37735" y="2359285"/>
            <a:ext cx="4864027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Frozen StreetCLIP ViT-B/32 creates 768-dim embeddings.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5781" y="3860302"/>
            <a:ext cx="112392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sz="270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8221" y="3767433"/>
            <a:ext cx="485762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Adaptation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8221" y="4451804"/>
            <a:ext cx="4857626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Residual bottleneck MLP refines the fused vision vector.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53038" y="3860302"/>
            <a:ext cx="112095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sz="270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02497" y="3767433"/>
            <a:ext cx="463200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Retrieval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02497" y="4451804"/>
            <a:ext cx="4632008" cy="144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Compare against a 475-location vector knowledge base.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91695" y="3860302"/>
            <a:ext cx="112273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sz="270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42945" y="3767433"/>
            <a:ext cx="485881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Output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42945" y="4451804"/>
            <a:ext cx="4858817" cy="144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Calibrated ranked predictions in a Streamlit tactical HUD with map context.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7687925" y="9789766"/>
            <a:ext cx="599608" cy="308524"/>
            <a:chOff x="0" y="0"/>
            <a:chExt cx="799478" cy="4113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9484" cy="411360"/>
            </a:xfrm>
            <a:custGeom>
              <a:avLst/>
              <a:gdLst/>
              <a:ahLst/>
              <a:cxnLst/>
              <a:rect r="r" b="b" t="t" l="l"/>
              <a:pathLst>
                <a:path h="411360" w="799484">
                  <a:moveTo>
                    <a:pt x="0" y="0"/>
                  </a:moveTo>
                  <a:lnTo>
                    <a:pt x="799484" y="0"/>
                  </a:lnTo>
                  <a:lnTo>
                    <a:pt x="799484" y="411360"/>
                  </a:lnTo>
                  <a:lnTo>
                    <a:pt x="0" y="411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17" t="0" r="-16016" b="-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99478" cy="458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800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5781" y="790794"/>
            <a:ext cx="16915981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7"/>
              </a:lnSpc>
            </a:pPr>
            <a:r>
              <a:rPr lang="en-US" sz="54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Multi-scale TTA preserves the clues resizing loses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781" y="1649673"/>
            <a:ext cx="17601762" cy="5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Weighted crops keep localized evidence and broad scene context in one normalized 768-dim vector.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85781" y="2430666"/>
            <a:ext cx="8229390" cy="2017214"/>
            <a:chOff x="0" y="0"/>
            <a:chExt cx="10972521" cy="26896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547" cy="2689606"/>
            </a:xfrm>
            <a:custGeom>
              <a:avLst/>
              <a:gdLst/>
              <a:ahLst/>
              <a:cxnLst/>
              <a:rect r="r" b="b" t="t" l="l"/>
              <a:pathLst>
                <a:path h="2689606" w="1097254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728706" y="0"/>
                  </a:lnTo>
                  <a:cubicBezTo>
                    <a:pt x="10863326" y="0"/>
                    <a:pt x="10972547" y="109220"/>
                    <a:pt x="10972547" y="243840"/>
                  </a:cubicBezTo>
                  <a:lnTo>
                    <a:pt x="10972547" y="2445766"/>
                  </a:lnTo>
                  <a:cubicBezTo>
                    <a:pt x="10972547" y="2580386"/>
                    <a:pt x="10863326" y="2689606"/>
                    <a:pt x="10728706" y="2689606"/>
                  </a:cubicBezTo>
                  <a:lnTo>
                    <a:pt x="243840" y="2689606"/>
                  </a:lnTo>
                  <a:cubicBezTo>
                    <a:pt x="109220" y="2689606"/>
                    <a:pt x="0" y="2580386"/>
                    <a:pt x="0" y="2445766"/>
                  </a:cubicBezTo>
                  <a:close/>
                </a:path>
              </a:pathLst>
            </a:custGeom>
            <a:solidFill>
              <a:srgbClr val="0F3B2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66771" y="2564016"/>
            <a:ext cx="784840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MACRO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771" y="2982601"/>
            <a:ext cx="7467410" cy="65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Full scene · 45%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771" y="3781187"/>
            <a:ext cx="7848400" cy="5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 landscape and architecture.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72362" y="2430666"/>
            <a:ext cx="8229390" cy="2017214"/>
            <a:chOff x="0" y="0"/>
            <a:chExt cx="10972521" cy="26896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547" cy="2689606"/>
            </a:xfrm>
            <a:custGeom>
              <a:avLst/>
              <a:gdLst/>
              <a:ahLst/>
              <a:cxnLst/>
              <a:rect r="r" b="b" t="t" l="l"/>
              <a:pathLst>
                <a:path h="2689606" w="1097254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728706" y="0"/>
                  </a:lnTo>
                  <a:cubicBezTo>
                    <a:pt x="10863326" y="0"/>
                    <a:pt x="10972547" y="109220"/>
                    <a:pt x="10972547" y="243840"/>
                  </a:cubicBezTo>
                  <a:lnTo>
                    <a:pt x="10972547" y="2445766"/>
                  </a:lnTo>
                  <a:cubicBezTo>
                    <a:pt x="10972547" y="2580386"/>
                    <a:pt x="10863326" y="2689606"/>
                    <a:pt x="10728706" y="2689606"/>
                  </a:cubicBezTo>
                  <a:lnTo>
                    <a:pt x="243840" y="2689606"/>
                  </a:lnTo>
                  <a:cubicBezTo>
                    <a:pt x="109220" y="2689606"/>
                    <a:pt x="0" y="2580386"/>
                    <a:pt x="0" y="2445766"/>
                  </a:cubicBezTo>
                  <a:close/>
                </a:path>
              </a:pathLst>
            </a:custGeom>
            <a:solidFill>
              <a:srgbClr val="0F3B2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753352" y="2564016"/>
            <a:ext cx="784840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MICRO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53352" y="2982601"/>
            <a:ext cx="7467410" cy="65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Ground / soil · 25%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53352" y="3781187"/>
            <a:ext cx="7848400" cy="5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Laterite, dust, pavement texture.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5781" y="4905080"/>
            <a:ext cx="8229390" cy="2017214"/>
            <a:chOff x="0" y="0"/>
            <a:chExt cx="10972521" cy="26896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547" cy="2689606"/>
            </a:xfrm>
            <a:custGeom>
              <a:avLst/>
              <a:gdLst/>
              <a:ahLst/>
              <a:cxnLst/>
              <a:rect r="r" b="b" t="t" l="l"/>
              <a:pathLst>
                <a:path h="2689606" w="1097254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728706" y="0"/>
                  </a:lnTo>
                  <a:cubicBezTo>
                    <a:pt x="10863326" y="0"/>
                    <a:pt x="10972547" y="109220"/>
                    <a:pt x="10972547" y="243840"/>
                  </a:cubicBezTo>
                  <a:lnTo>
                    <a:pt x="10972547" y="2445766"/>
                  </a:lnTo>
                  <a:cubicBezTo>
                    <a:pt x="10972547" y="2580386"/>
                    <a:pt x="10863326" y="2689606"/>
                    <a:pt x="10728706" y="2689606"/>
                  </a:cubicBezTo>
                  <a:lnTo>
                    <a:pt x="243840" y="2689606"/>
                  </a:lnTo>
                  <a:cubicBezTo>
                    <a:pt x="109220" y="2689606"/>
                    <a:pt x="0" y="2580386"/>
                    <a:pt x="0" y="2445766"/>
                  </a:cubicBezTo>
                  <a:close/>
                </a:path>
              </a:pathLst>
            </a:custGeom>
            <a:solidFill>
              <a:srgbClr val="0F3B2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66771" y="5038430"/>
            <a:ext cx="784840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EDGE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6771" y="5457025"/>
            <a:ext cx="7467410" cy="65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Roadside margin · 15%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6771" y="6255601"/>
            <a:ext cx="7848400" cy="5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Signs, poles, lane markings.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72362" y="4905080"/>
            <a:ext cx="8229390" cy="2017214"/>
            <a:chOff x="0" y="0"/>
            <a:chExt cx="10972521" cy="26896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547" cy="2689606"/>
            </a:xfrm>
            <a:custGeom>
              <a:avLst/>
              <a:gdLst/>
              <a:ahLst/>
              <a:cxnLst/>
              <a:rect r="r" b="b" t="t" l="l"/>
              <a:pathLst>
                <a:path h="2689606" w="1097254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728706" y="0"/>
                  </a:lnTo>
                  <a:cubicBezTo>
                    <a:pt x="10863326" y="0"/>
                    <a:pt x="10972547" y="109220"/>
                    <a:pt x="10972547" y="243840"/>
                  </a:cubicBezTo>
                  <a:lnTo>
                    <a:pt x="10972547" y="2445766"/>
                  </a:lnTo>
                  <a:cubicBezTo>
                    <a:pt x="10972547" y="2580386"/>
                    <a:pt x="10863326" y="2689606"/>
                    <a:pt x="10728706" y="2689606"/>
                  </a:cubicBezTo>
                  <a:lnTo>
                    <a:pt x="243840" y="2689606"/>
                  </a:lnTo>
                  <a:cubicBezTo>
                    <a:pt x="109220" y="2689606"/>
                    <a:pt x="0" y="2580386"/>
                    <a:pt x="0" y="2445766"/>
                  </a:cubicBezTo>
                  <a:close/>
                </a:path>
              </a:pathLst>
            </a:custGeom>
            <a:solidFill>
              <a:srgbClr val="0F3B2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753352" y="5038430"/>
            <a:ext cx="784840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CONTEXT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53352" y="5457025"/>
            <a:ext cx="7467410" cy="65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Horizon · 15%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53352" y="6255601"/>
            <a:ext cx="7848400" cy="5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Terrain and skyline context.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5781" y="7112794"/>
            <a:ext cx="11521088" cy="2080022"/>
            <a:chOff x="0" y="0"/>
            <a:chExt cx="15361450" cy="27733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61411" cy="2773426"/>
            </a:xfrm>
            <a:custGeom>
              <a:avLst/>
              <a:gdLst/>
              <a:ahLst/>
              <a:cxnLst/>
              <a:rect r="r" b="b" t="t" l="l"/>
              <a:pathLst>
                <a:path h="2773426" w="1536141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5117572" y="0"/>
                  </a:lnTo>
                  <a:cubicBezTo>
                    <a:pt x="15252192" y="0"/>
                    <a:pt x="15361411" y="109220"/>
                    <a:pt x="15361411" y="243840"/>
                  </a:cubicBezTo>
                  <a:lnTo>
                    <a:pt x="15361411" y="2529586"/>
                  </a:lnTo>
                  <a:cubicBezTo>
                    <a:pt x="15361411" y="2664206"/>
                    <a:pt x="15252192" y="2773426"/>
                    <a:pt x="15117572" y="2773426"/>
                  </a:cubicBezTo>
                  <a:lnTo>
                    <a:pt x="243840" y="2773426"/>
                  </a:lnTo>
                  <a:cubicBezTo>
                    <a:pt x="109220" y="2773426"/>
                    <a:pt x="0" y="2664206"/>
                    <a:pt x="0" y="2529586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42971" y="7284244"/>
            <a:ext cx="11063907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0000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WEIGHTED FUSION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42971" y="7796660"/>
            <a:ext cx="10606716" cy="1177233"/>
            <a:chOff x="0" y="0"/>
            <a:chExt cx="14142288" cy="1569644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4142338" cy="1569593"/>
            </a:xfrm>
            <a:custGeom>
              <a:avLst/>
              <a:gdLst/>
              <a:ahLst/>
              <a:cxnLst/>
              <a:rect r="r" b="b" t="t" l="l"/>
              <a:pathLst>
                <a:path h="1569593" w="14142338">
                  <a:moveTo>
                    <a:pt x="0" y="0"/>
                  </a:moveTo>
                  <a:lnTo>
                    <a:pt x="14142338" y="0"/>
                  </a:lnTo>
                  <a:lnTo>
                    <a:pt x="1414233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4" r="0" b="-148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663916" y="7061359"/>
            <a:ext cx="4937846" cy="190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Localized micro-cues and broad scene context contribute to one normalized 768-dim vector.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687039" y="9789766"/>
            <a:ext cx="600504" cy="308524"/>
            <a:chOff x="0" y="0"/>
            <a:chExt cx="800672" cy="4113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0676" cy="411360"/>
            </a:xfrm>
            <a:custGeom>
              <a:avLst/>
              <a:gdLst/>
              <a:ahLst/>
              <a:cxnLst/>
              <a:rect r="r" b="b" t="t" l="l"/>
              <a:pathLst>
                <a:path h="411360" w="800676">
                  <a:moveTo>
                    <a:pt x="0" y="0"/>
                  </a:moveTo>
                  <a:lnTo>
                    <a:pt x="800676" y="0"/>
                  </a:lnTo>
                  <a:lnTo>
                    <a:pt x="800676" y="411360"/>
                  </a:lnTo>
                  <a:lnTo>
                    <a:pt x="0" y="411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919" t="0" r="-15918" b="-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00672" cy="458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800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5781" y="790794"/>
            <a:ext cx="16915981" cy="139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7"/>
              </a:lnSpc>
            </a:pPr>
            <a:r>
              <a:rPr lang="en-US" sz="54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Residual adapter: improve localization without forgetting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85784" y="2421136"/>
          <a:ext cx="16878300" cy="3257550"/>
        </p:xfrm>
        <a:graphic>
          <a:graphicData uri="http://schemas.openxmlformats.org/drawingml/2006/table">
            <a:tbl>
              <a:tblPr/>
              <a:tblGrid>
                <a:gridCol w="4219575"/>
                <a:gridCol w="12658725"/>
              </a:tblGrid>
              <a:tr h="7453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Frozen foundation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E3EEE7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1.7 GB StreetCLIP backbone stays fixed.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53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Bottleneck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E3EEE7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LayerNorm → Linear 768→256 → GELU → Linear 256→768.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01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Residual blend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E3EEE7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v_{adapted} = \operatorname{normalize}(0.5v_{fused} + 0.5residual)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66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Identity initialization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E3EEE7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Zero-initialized final layer preserves baseline behavior at epoch 0.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685781" y="3158119"/>
            <a:ext cx="16915981" cy="19050"/>
            <a:chOff x="0" y="0"/>
            <a:chExt cx="22554641" cy="2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54692" cy="25400"/>
            </a:xfrm>
            <a:custGeom>
              <a:avLst/>
              <a:gdLst/>
              <a:ahLst/>
              <a:cxnLst/>
              <a:rect r="r" b="b" t="t" l="l"/>
              <a:pathLst>
                <a:path h="25400" w="22554692">
                  <a:moveTo>
                    <a:pt x="0" y="0"/>
                  </a:moveTo>
                  <a:lnTo>
                    <a:pt x="22554692" y="0"/>
                  </a:lnTo>
                  <a:lnTo>
                    <a:pt x="2255469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781" y="3914146"/>
            <a:ext cx="16915981" cy="19050"/>
            <a:chOff x="0" y="0"/>
            <a:chExt cx="22554641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54692" cy="25400"/>
            </a:xfrm>
            <a:custGeom>
              <a:avLst/>
              <a:gdLst/>
              <a:ahLst/>
              <a:cxnLst/>
              <a:rect r="r" b="b" t="t" l="l"/>
              <a:pathLst>
                <a:path h="25400" w="22554692">
                  <a:moveTo>
                    <a:pt x="0" y="0"/>
                  </a:moveTo>
                  <a:lnTo>
                    <a:pt x="22554692" y="0"/>
                  </a:lnTo>
                  <a:lnTo>
                    <a:pt x="2255469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781" y="4969154"/>
            <a:ext cx="16915981" cy="19050"/>
            <a:chOff x="0" y="0"/>
            <a:chExt cx="22554641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54692" cy="25400"/>
            </a:xfrm>
            <a:custGeom>
              <a:avLst/>
              <a:gdLst/>
              <a:ahLst/>
              <a:cxnLst/>
              <a:rect r="r" b="b" t="t" l="l"/>
              <a:pathLst>
                <a:path h="25400" w="22554692">
                  <a:moveTo>
                    <a:pt x="0" y="0"/>
                  </a:moveTo>
                  <a:lnTo>
                    <a:pt x="22554692" y="0"/>
                  </a:lnTo>
                  <a:lnTo>
                    <a:pt x="2255469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781" y="5991968"/>
            <a:ext cx="16915981" cy="2875512"/>
            <a:chOff x="0" y="0"/>
            <a:chExt cx="22554641" cy="3834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54692" cy="3834003"/>
            </a:xfrm>
            <a:custGeom>
              <a:avLst/>
              <a:gdLst/>
              <a:ahLst/>
              <a:cxnLst/>
              <a:rect r="r" b="b" t="t" l="l"/>
              <a:pathLst>
                <a:path h="3834003" w="2255469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2310852" y="0"/>
                  </a:lnTo>
                  <a:cubicBezTo>
                    <a:pt x="22445472" y="0"/>
                    <a:pt x="22554692" y="109220"/>
                    <a:pt x="22554692" y="243840"/>
                  </a:cubicBezTo>
                  <a:lnTo>
                    <a:pt x="22554692" y="3590163"/>
                  </a:lnTo>
                  <a:cubicBezTo>
                    <a:pt x="22554692" y="3724783"/>
                    <a:pt x="22445472" y="3834003"/>
                    <a:pt x="22310852" y="3834003"/>
                  </a:cubicBezTo>
                  <a:lnTo>
                    <a:pt x="243840" y="3834003"/>
                  </a:lnTo>
                  <a:cubicBezTo>
                    <a:pt x="109220" y="3834003"/>
                    <a:pt x="0" y="3724783"/>
                    <a:pt x="0" y="3590163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671" y="6315818"/>
            <a:ext cx="1657309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0000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EMPIRICAL RESULT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671" y="7016353"/>
            <a:ext cx="162301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8"/>
              </a:lnSpc>
            </a:pPr>
            <a:r>
              <a:rPr lang="en-US" b="true" sz="7800" spc="-156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66.04% → 100%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671" y="8010287"/>
            <a:ext cx="16573090" cy="5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Top-1 accuracy improved from 66.04% zero-shot to 100% on the evaluation dataset.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683610" y="9789766"/>
            <a:ext cx="603933" cy="308524"/>
            <a:chOff x="0" y="0"/>
            <a:chExt cx="805244" cy="4113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5240" cy="411360"/>
            </a:xfrm>
            <a:custGeom>
              <a:avLst/>
              <a:gdLst/>
              <a:ahLst/>
              <a:cxnLst/>
              <a:rect r="r" b="b" t="t" l="l"/>
              <a:pathLst>
                <a:path h="411360" w="805240">
                  <a:moveTo>
                    <a:pt x="0" y="0"/>
                  </a:moveTo>
                  <a:lnTo>
                    <a:pt x="805240" y="0"/>
                  </a:lnTo>
                  <a:lnTo>
                    <a:pt x="805240" y="411360"/>
                  </a:lnTo>
                  <a:lnTo>
                    <a:pt x="0" y="411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545" t="0" r="-15545" b="-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05244" cy="458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800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5781" y="790794"/>
            <a:ext cx="16915981" cy="139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7"/>
              </a:lnSpc>
            </a:pPr>
            <a:r>
              <a:rPr lang="en-US" sz="54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Knowledge base turns geography into grounded retrieval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781" y="2402091"/>
            <a:ext cx="822939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LOCATION INDEX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781" y="3102616"/>
            <a:ext cx="82293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8"/>
              </a:lnSpc>
            </a:pPr>
            <a:r>
              <a:rPr lang="en-US" b="true" sz="7800" spc="-156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475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781" y="3997966"/>
            <a:ext cx="822939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indexed locations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5781" y="4682338"/>
            <a:ext cx="8229390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225 global countries/cities, 48 Pan-India states/UTs, 180 Kerala village micro-regions.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5781" y="5914282"/>
            <a:ext cx="8229390" cy="47473"/>
            <a:chOff x="0" y="0"/>
            <a:chExt cx="10972521" cy="632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546" cy="63246"/>
            </a:xfrm>
            <a:custGeom>
              <a:avLst/>
              <a:gdLst/>
              <a:ahLst/>
              <a:cxnLst/>
              <a:rect r="r" b="b" t="t" l="l"/>
              <a:pathLst>
                <a:path h="63246" w="109725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0940923" y="0"/>
                  </a:lnTo>
                  <a:cubicBezTo>
                    <a:pt x="10958449" y="0"/>
                    <a:pt x="10972546" y="14224"/>
                    <a:pt x="10972546" y="31623"/>
                  </a:cubicBezTo>
                  <a:cubicBezTo>
                    <a:pt x="10972546" y="49149"/>
                    <a:pt x="10958322" y="63246"/>
                    <a:pt x="10940923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F675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781" y="6197651"/>
            <a:ext cx="822939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VERIFIED EVIDENCE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781" y="6658632"/>
            <a:ext cx="8229390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b="true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104 verified exemplars:</a:t>
            </a: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high-resolution street-view references in Imgs/.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72362" y="2402091"/>
            <a:ext cx="822939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TEXT ENSEMBLE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2362" y="2835916"/>
            <a:ext cx="822939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3-way text ensemble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72362" y="3520288"/>
            <a:ext cx="8229390" cy="144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0.50 visual description + 0.30 canonical name + 0.20 geographic hierarchy, normalized to 768 dimensions.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2362" y="5112696"/>
            <a:ext cx="822939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RICH SCHEMA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2362" y="5573678"/>
            <a:ext cx="8229390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Latitude/longitude, country, region, category, driving side, and visual clues.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2362" y="6703219"/>
            <a:ext cx="822939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COMPACT STORAGE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72362" y="7164200"/>
            <a:ext cx="8229390" cy="5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b="true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embeddings_cache.pt is 1.6 MB.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7679895" y="9789766"/>
            <a:ext cx="607647" cy="308524"/>
            <a:chOff x="0" y="0"/>
            <a:chExt cx="810196" cy="4113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0200" cy="411360"/>
            </a:xfrm>
            <a:custGeom>
              <a:avLst/>
              <a:gdLst/>
              <a:ahLst/>
              <a:cxnLst/>
              <a:rect r="r" b="b" t="t" l="l"/>
              <a:pathLst>
                <a:path h="411360" w="810200">
                  <a:moveTo>
                    <a:pt x="0" y="0"/>
                  </a:moveTo>
                  <a:lnTo>
                    <a:pt x="810200" y="0"/>
                  </a:lnTo>
                  <a:lnTo>
                    <a:pt x="810200" y="411360"/>
                  </a:lnTo>
                  <a:lnTo>
                    <a:pt x="0" y="411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44" t="0" r="-15143" b="-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10196" cy="458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800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7190" y="400145"/>
            <a:ext cx="12001205" cy="130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sz="5025" spc="-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Explainability makes the prediction inspectable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57190" y="1905000"/>
            <a:ext cx="639651" cy="639661"/>
            <a:chOff x="0" y="0"/>
            <a:chExt cx="852868" cy="852881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852805" cy="852932"/>
            </a:xfrm>
            <a:custGeom>
              <a:avLst/>
              <a:gdLst/>
              <a:ahLst/>
              <a:cxnLst/>
              <a:rect r="r" b="b" t="t" l="l"/>
              <a:pathLst>
                <a:path h="852932" w="852805">
                  <a:moveTo>
                    <a:pt x="0" y="0"/>
                  </a:moveTo>
                  <a:lnTo>
                    <a:pt x="852805" y="0"/>
                  </a:lnTo>
                  <a:lnTo>
                    <a:pt x="852805" y="852932"/>
                  </a:lnTo>
                  <a:lnTo>
                    <a:pt x="0" y="85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7" b="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7190" y="2668772"/>
            <a:ext cx="3657362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7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Patch heatmap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7190" y="3314100"/>
            <a:ext cx="3657362" cy="212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55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576 ViT spatial tokens, scored against the target location vector on a 24×24 grid, then upsampled bicubically.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00333" y="1905000"/>
            <a:ext cx="639651" cy="639661"/>
            <a:chOff x="0" y="0"/>
            <a:chExt cx="852868" cy="85288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52805" cy="852932"/>
            </a:xfrm>
            <a:custGeom>
              <a:avLst/>
              <a:gdLst/>
              <a:ahLst/>
              <a:cxnLst/>
              <a:rect r="r" b="b" t="t" l="l"/>
              <a:pathLst>
                <a:path h="852932" w="852805">
                  <a:moveTo>
                    <a:pt x="0" y="0"/>
                  </a:moveTo>
                  <a:lnTo>
                    <a:pt x="852805" y="0"/>
                  </a:lnTo>
                  <a:lnTo>
                    <a:pt x="852805" y="852932"/>
                  </a:lnTo>
                  <a:lnTo>
                    <a:pt x="0" y="85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7" b="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800333" y="2668772"/>
            <a:ext cx="342891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7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Zero-shot clue probes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00333" y="3776062"/>
            <a:ext cx="3428914" cy="128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55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Vegetation, road surface, traffic side, and terrain.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15029" y="1905000"/>
            <a:ext cx="639651" cy="639661"/>
            <a:chOff x="0" y="0"/>
            <a:chExt cx="852868" cy="852881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852805" cy="852932"/>
            </a:xfrm>
            <a:custGeom>
              <a:avLst/>
              <a:gdLst/>
              <a:ahLst/>
              <a:cxnLst/>
              <a:rect r="r" b="b" t="t" l="l"/>
              <a:pathLst>
                <a:path h="852932" w="852805">
                  <a:moveTo>
                    <a:pt x="0" y="0"/>
                  </a:moveTo>
                  <a:lnTo>
                    <a:pt x="852805" y="0"/>
                  </a:lnTo>
                  <a:lnTo>
                    <a:pt x="852805" y="852932"/>
                  </a:lnTo>
                  <a:lnTo>
                    <a:pt x="0" y="85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7" b="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915029" y="2668772"/>
            <a:ext cx="354321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7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Micro-Clue Evidence Booster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15029" y="3776062"/>
            <a:ext cx="3543214" cy="170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55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Adjusts candidate scores when environmental clues agree.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57190" y="6158655"/>
            <a:ext cx="639651" cy="639661"/>
            <a:chOff x="0" y="0"/>
            <a:chExt cx="852868" cy="852881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852805" cy="852932"/>
            </a:xfrm>
            <a:custGeom>
              <a:avLst/>
              <a:gdLst/>
              <a:ahLst/>
              <a:cxnLst/>
              <a:rect r="r" b="b" t="t" l="l"/>
              <a:pathLst>
                <a:path h="852932" w="852805">
                  <a:moveTo>
                    <a:pt x="0" y="0"/>
                  </a:moveTo>
                  <a:lnTo>
                    <a:pt x="852805" y="0"/>
                  </a:lnTo>
                  <a:lnTo>
                    <a:pt x="852805" y="852932"/>
                  </a:lnTo>
                  <a:lnTo>
                    <a:pt x="0" y="85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7" b="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57190" y="6922427"/>
            <a:ext cx="365736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7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Calibrated confidence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7190" y="8029718"/>
            <a:ext cx="3657362" cy="128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55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Temperature softmax with τ = 35.0 over 475 candidates.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800333" y="6158655"/>
            <a:ext cx="639651" cy="639661"/>
            <a:chOff x="0" y="0"/>
            <a:chExt cx="852868" cy="852881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852805" cy="852932"/>
            </a:xfrm>
            <a:custGeom>
              <a:avLst/>
              <a:gdLst/>
              <a:ahLst/>
              <a:cxnLst/>
              <a:rect r="r" b="b" t="t" l="l"/>
              <a:pathLst>
                <a:path h="852932" w="852805">
                  <a:moveTo>
                    <a:pt x="0" y="0"/>
                  </a:moveTo>
                  <a:lnTo>
                    <a:pt x="852805" y="0"/>
                  </a:lnTo>
                  <a:lnTo>
                    <a:pt x="852805" y="852932"/>
                  </a:lnTo>
                  <a:lnTo>
                    <a:pt x="0" y="85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7" b="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800333" y="6922427"/>
            <a:ext cx="7657910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7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Ground truth &amp; game layer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00333" y="7567755"/>
            <a:ext cx="7657910" cy="128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55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Local EXIF tag 0x8825, uncertainty radius, Google Earth 3D flyover links; official GeoGuessr score = round(5000 × exp(−distance/2000)).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991776" y="304800"/>
            <a:ext cx="4914776" cy="9048150"/>
            <a:chOff x="0" y="0"/>
            <a:chExt cx="6553035" cy="120642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6553073" cy="12064238"/>
            </a:xfrm>
            <a:custGeom>
              <a:avLst/>
              <a:gdLst/>
              <a:ahLst/>
              <a:cxnLst/>
              <a:rect r="r" b="b" t="t" l="l"/>
              <a:pathLst>
                <a:path h="12064238" w="6553073">
                  <a:moveTo>
                    <a:pt x="0" y="0"/>
                  </a:moveTo>
                  <a:lnTo>
                    <a:pt x="6553073" y="0"/>
                  </a:lnTo>
                  <a:lnTo>
                    <a:pt x="6553073" y="12064238"/>
                  </a:lnTo>
                  <a:lnTo>
                    <a:pt x="0" y="12064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4" r="0" b="-54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987014" y="9580216"/>
            <a:ext cx="3173978" cy="482946"/>
            <a:chOff x="0" y="0"/>
            <a:chExt cx="4231970" cy="6439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32021" cy="643890"/>
            </a:xfrm>
            <a:custGeom>
              <a:avLst/>
              <a:gdLst/>
              <a:ahLst/>
              <a:cxnLst/>
              <a:rect r="r" b="b" t="t" l="l"/>
              <a:pathLst>
                <a:path h="643890" w="4232021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3910076" y="0"/>
                  </a:lnTo>
                  <a:cubicBezTo>
                    <a:pt x="4087876" y="0"/>
                    <a:pt x="4232021" y="144145"/>
                    <a:pt x="4232021" y="321945"/>
                  </a:cubicBezTo>
                  <a:cubicBezTo>
                    <a:pt x="4232021" y="499745"/>
                    <a:pt x="4087876" y="643890"/>
                    <a:pt x="3910076" y="643890"/>
                  </a:cubicBezTo>
                  <a:lnTo>
                    <a:pt x="321945" y="643890"/>
                  </a:lnTo>
                  <a:cubicBezTo>
                    <a:pt x="144145" y="643890"/>
                    <a:pt x="0" y="499745"/>
                    <a:pt x="0" y="321945"/>
                  </a:cubicBez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8062" r="1" b="-78068"/>
              </a:stretch>
            </a:blipFill>
            <a:ln w="9525" cap="sq">
              <a:solidFill>
                <a:srgbClr val="C5E35A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165007" y="9646520"/>
            <a:ext cx="3732371" cy="32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b="true" sz="1800" spc="18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INSPECTABLE EVIDENCE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7706232" y="9789766"/>
            <a:ext cx="581311" cy="308524"/>
            <a:chOff x="0" y="0"/>
            <a:chExt cx="775081" cy="4113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5078" cy="411360"/>
            </a:xfrm>
            <a:custGeom>
              <a:avLst/>
              <a:gdLst/>
              <a:ahLst/>
              <a:cxnLst/>
              <a:rect r="r" b="b" t="t" l="l"/>
              <a:pathLst>
                <a:path h="411360" w="775078">
                  <a:moveTo>
                    <a:pt x="0" y="0"/>
                  </a:moveTo>
                  <a:lnTo>
                    <a:pt x="775078" y="0"/>
                  </a:lnTo>
                  <a:lnTo>
                    <a:pt x="775078" y="411360"/>
                  </a:lnTo>
                  <a:lnTo>
                    <a:pt x="0" y="4113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8095" t="0" r="-18096" b="-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75081" cy="458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800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61981" y="326688"/>
            <a:ext cx="16763581" cy="586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9"/>
              </a:lnSpc>
            </a:pPr>
            <a:r>
              <a:rPr lang="en-US" sz="4725" spc="-7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Human-in-the-loop learning keeps the map alive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1981" y="1139876"/>
            <a:ext cx="1087012" cy="4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360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1981" y="1602572"/>
            <a:ext cx="8153200" cy="48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Correct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981" y="2230279"/>
            <a:ext cx="8153200" cy="79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4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User selects the true location after an incorrect prediction.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72362" y="1139876"/>
            <a:ext cx="1180624" cy="4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360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2362" y="1602572"/>
            <a:ext cx="8153200" cy="48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Curate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72362" y="2230279"/>
            <a:ext cx="8153200" cy="41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4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New visual clues are added to the curated record.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1981" y="3895430"/>
            <a:ext cx="1182710" cy="4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360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1981" y="4358126"/>
            <a:ext cx="8153200" cy="48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1981" y="4985833"/>
            <a:ext cx="8153200" cy="79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4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Normalized 768-dim image vectors are stored in corrections_cache.pt with match threshold ≥ 0.92.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2362" y="3895430"/>
            <a:ext cx="1191187" cy="4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360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72362" y="4358126"/>
            <a:ext cx="8153200" cy="48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Update safely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2362" y="4985833"/>
            <a:ext cx="8153200" cy="117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4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Existing 3-way prompt embeddings are updated in place; duplicates are blocked through a 4-stage lowercase canonical-name safety net.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1981" y="6651279"/>
            <a:ext cx="1187167" cy="4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360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1981" y="7113975"/>
            <a:ext cx="16763581" cy="48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Hot-reload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1981" y="7741682"/>
            <a:ext cx="16763581" cy="41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4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load_database.clear() hot-reloads updates without restarting.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1981" y="9092336"/>
            <a:ext cx="16763581" cy="62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1875" spc="18">
                <a:solidFill>
                  <a:srgbClr val="A8C4B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Team roles:</a:t>
            </a:r>
            <a:r>
              <a:rPr lang="en-US" b="true" sz="1875" spc="18">
                <a:solidFill>
                  <a:srgbClr val="A8C4B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Location Curator · Image Collector · Model Trainer · Systems Developer. GitHub Actions and validate_pipeline.py enforce the quality gate.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7683610" y="9789766"/>
            <a:ext cx="603933" cy="308524"/>
            <a:chOff x="0" y="0"/>
            <a:chExt cx="805244" cy="4113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5240" cy="411360"/>
            </a:xfrm>
            <a:custGeom>
              <a:avLst/>
              <a:gdLst/>
              <a:ahLst/>
              <a:cxnLst/>
              <a:rect r="r" b="b" t="t" l="l"/>
              <a:pathLst>
                <a:path h="411360" w="805240">
                  <a:moveTo>
                    <a:pt x="0" y="0"/>
                  </a:moveTo>
                  <a:lnTo>
                    <a:pt x="805240" y="0"/>
                  </a:lnTo>
                  <a:lnTo>
                    <a:pt x="805240" y="411360"/>
                  </a:lnTo>
                  <a:lnTo>
                    <a:pt x="0" y="411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545" t="0" r="-15545" b="-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05244" cy="458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800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5781" y="790794"/>
            <a:ext cx="16915981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7"/>
              </a:lnSpc>
            </a:pPr>
            <a:r>
              <a:rPr lang="en-US" sz="54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Engineering outcomes and the next frontier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781" y="1682058"/>
            <a:ext cx="811510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Delivered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781" y="2143039"/>
            <a:ext cx="8115100" cy="144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b="true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sub-0.03 second cold start</a:t>
            </a: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; 1.58 MB adapter weights; 15 km-scale Kerala micro-region differentiation; verified-location grounding.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5781" y="3837832"/>
            <a:ext cx="8115100" cy="47473"/>
            <a:chOff x="0" y="0"/>
            <a:chExt cx="10820133" cy="632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20146" cy="63246"/>
            </a:xfrm>
            <a:custGeom>
              <a:avLst/>
              <a:gdLst/>
              <a:ahLst/>
              <a:cxnLst/>
              <a:rect r="r" b="b" t="t" l="l"/>
              <a:pathLst>
                <a:path h="63246" w="108201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0788523" y="0"/>
                  </a:lnTo>
                  <a:cubicBezTo>
                    <a:pt x="10806049" y="0"/>
                    <a:pt x="10820146" y="14224"/>
                    <a:pt x="10820146" y="31623"/>
                  </a:cubicBezTo>
                  <a:cubicBezTo>
                    <a:pt x="10820146" y="49149"/>
                    <a:pt x="10805922" y="63246"/>
                    <a:pt x="10788523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85781" y="4121201"/>
            <a:ext cx="811510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Challenges solved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781" y="4582182"/>
            <a:ext cx="8115100" cy="144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Catastrophic forgetting through a lightweight bottleneck adapter; database corruption through automated vector deduplication.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86662" y="1682058"/>
            <a:ext cx="811510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Current limits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6662" y="2143039"/>
            <a:ext cx="8115100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Static 2D images and a closed vocabulary of 475 locations.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86662" y="3374974"/>
            <a:ext cx="8115100" cy="47473"/>
            <a:chOff x="0" y="0"/>
            <a:chExt cx="10820133" cy="632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20146" cy="63246"/>
            </a:xfrm>
            <a:custGeom>
              <a:avLst/>
              <a:gdLst/>
              <a:ahLst/>
              <a:cxnLst/>
              <a:rect r="r" b="b" t="t" l="l"/>
              <a:pathLst>
                <a:path h="63246" w="108201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0788523" y="0"/>
                  </a:lnTo>
                  <a:cubicBezTo>
                    <a:pt x="10806049" y="0"/>
                    <a:pt x="10820146" y="14224"/>
                    <a:pt x="10820146" y="31623"/>
                  </a:cubicBezTo>
                  <a:cubicBezTo>
                    <a:pt x="10820146" y="49149"/>
                    <a:pt x="10805922" y="63246"/>
                    <a:pt x="10788523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486662" y="3658343"/>
            <a:ext cx="8115100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950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Future scope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86662" y="4119324"/>
            <a:ext cx="8115100" cy="144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360° equirectangular panoramas across four cardinal directions; hierarchical GPS regression with Uber H3 hexagonal spatial cells.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679895" y="9789766"/>
            <a:ext cx="607647" cy="308524"/>
            <a:chOff x="0" y="0"/>
            <a:chExt cx="810196" cy="4113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0200" cy="411360"/>
            </a:xfrm>
            <a:custGeom>
              <a:avLst/>
              <a:gdLst/>
              <a:ahLst/>
              <a:cxnLst/>
              <a:rect r="r" b="b" t="t" l="l"/>
              <a:pathLst>
                <a:path h="411360" w="810200">
                  <a:moveTo>
                    <a:pt x="0" y="0"/>
                  </a:moveTo>
                  <a:lnTo>
                    <a:pt x="810200" y="0"/>
                  </a:lnTo>
                  <a:lnTo>
                    <a:pt x="810200" y="411360"/>
                  </a:lnTo>
                  <a:lnTo>
                    <a:pt x="0" y="411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44" t="0" r="-15143" b="-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10196" cy="458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800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09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DAHZgCTgELs</dc:identifier>
  <dcterms:modified xsi:type="dcterms:W3CDTF">2011-08-01T06:04:30Z</dcterms:modified>
  <cp:revision>1</cp:revision>
  <dc:title>GeoGuessr-AI-Global-and-Hyper-Local-Vision-Locator.pptx</dc:title>
</cp:coreProperties>
</file>